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"/>
            <a:ext cx="5760720" cy="5943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2B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DAA520"/>
                </a:solidFill>
                <a:latin typeface="Arial Unicode MS"/>
              </a:defRPr>
              <a:lnSpc>
                <a:spcPct val="130000"/>
              </a:lnSpc>
            </a:pPr>
            <a:r>
              <a:t>॥ श्री सीतारामचन्द्राय नमः 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FFFFFF"/>
                </a:solidFill>
                <a:latin typeface="Georgia"/>
              </a:defRPr>
              <a:lnSpc>
                <a:spcPct val="130000"/>
              </a:lnSpc>
            </a:pPr>
            <a:r>
              <a:t>Introduction to</a:t>
            </a:r>
            <a:br/>
            <a:r>
              <a:t>Valmiki Ramayana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FFE0B2"/>
                </a:solidFill>
                <a:latin typeface="Georgia"/>
              </a:defRPr>
              <a:lnSpc>
                <a:spcPct val="130000"/>
              </a:lnSpc>
            </a:pPr>
            <a:r>
              <a:t>The Adi Kavya — The First Poem of Humanity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FF8E7"/>
                </a:solidFill>
                <a:latin typeface="Georgia"/>
              </a:defRPr>
              <a:lnSpc>
                <a:spcPct val="140000"/>
              </a:lnSpc>
            </a:pPr>
            <a:r>
              <a:t>Composed by Maharishi Valmiki, the Ramayana is</a:t>
            </a:r>
            <a:br/>
            <a:r>
              <a:t>one of the two great Indian epics (Itihasa),</a:t>
            </a:r>
            <a:br/>
            <a:r>
              <a:t>narrating the divine pastimes of Lord Sri Rama.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DAA520"/>
                </a:solidFill>
                <a:latin typeface="Arial"/>
              </a:defRPr>
              <a:lnSpc>
                <a:spcPct val="130000"/>
              </a:lnSpc>
            </a:pPr>
            <a:r>
              <a:t>Images courtesy: ISKCON Desire Tree &amp; Hare Krishna Wallpapers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4572000" cy="548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365760"/>
            <a:ext cx="6583680" cy="6126480"/>
          </a:xfrm>
          <a:prstGeom prst="rect">
            <a:avLst/>
          </a:prstGeom>
          <a:solidFill>
            <a:srgbClr val="3B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6400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9933"/>
                </a:solidFill>
                <a:latin typeface="Georgia"/>
              </a:defRPr>
              <a:lnSpc>
                <a:spcPct val="130000"/>
              </a:lnSpc>
            </a:pPr>
            <a:r>
              <a:t>Maharishi Valmiki &amp; The Epic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1371600"/>
            <a:ext cx="2743200" cy="36576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5544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DAA520"/>
                </a:solidFill>
                <a:latin typeface="Georgia"/>
              </a:defRPr>
              <a:lnSpc>
                <a:spcPct val="130000"/>
              </a:lnSpc>
            </a:pPr>
            <a:r>
              <a:t>About Valmiki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01168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8E7"/>
                </a:solidFill>
                <a:latin typeface="Georgia"/>
              </a:defRPr>
            </a:pPr>
            <a:r>
              <a:t>• Known as the 'Adi Kavi' (the First Poet)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8E7"/>
                </a:solidFill>
                <a:latin typeface="Georgia"/>
              </a:defRPr>
            </a:pPr>
            <a:r>
              <a:t>• Composed the first shloka (verse) in Sanskrit poetry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8E7"/>
                </a:solidFill>
                <a:latin typeface="Georgia"/>
              </a:defRPr>
            </a:pPr>
            <a:r>
              <a:t>• Inspired by witnessing a hunter's cruelty to a bird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8E7"/>
                </a:solidFill>
                <a:latin typeface="Georgia"/>
              </a:defRPr>
            </a:pPr>
            <a:r>
              <a:t>• Sage Narada urged him to write Lord Rama's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657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DAA520"/>
                </a:solidFill>
                <a:latin typeface="Georgia"/>
              </a:defRPr>
              <a:lnSpc>
                <a:spcPct val="130000"/>
              </a:lnSpc>
            </a:pPr>
            <a:r>
              <a:t>The Ramayana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11480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8E7"/>
                </a:solidFill>
                <a:latin typeface="Georgia"/>
              </a:defRPr>
            </a:pPr>
            <a:r>
              <a:t>• 24,000 verses (shlokas) in 7 books (Kandas)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8E7"/>
                </a:solidFill>
                <a:latin typeface="Georgia"/>
              </a:defRPr>
            </a:pPr>
            <a:r>
              <a:t>• Written in the Anushtubh metre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8E7"/>
                </a:solidFill>
                <a:latin typeface="Georgia"/>
              </a:defRPr>
            </a:pPr>
            <a:r>
              <a:t>• Narrates events of Treta Yuga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8E7"/>
                </a:solidFill>
                <a:latin typeface="Georgia"/>
              </a:defRPr>
            </a:pPr>
            <a:r>
              <a:t>• Central theme: Dharma, devotion &amp; ideal conduct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8E7"/>
                </a:solidFill>
                <a:latin typeface="Georgia"/>
              </a:defRPr>
            </a:pPr>
            <a:r>
              <a:t>• Rama is the Supreme Lord descended as the ideal 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"/>
            <a:ext cx="12191695" cy="3200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9728"/>
            <a:ext cx="12191695" cy="3200400"/>
          </a:xfrm>
          <a:prstGeom prst="rect">
            <a:avLst/>
          </a:prstGeom>
          <a:solidFill>
            <a:srgbClr val="2B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9933"/>
                </a:solidFill>
                <a:latin typeface="Georgia"/>
              </a:defRPr>
              <a:lnSpc>
                <a:spcPct val="130000"/>
              </a:lnSpc>
            </a:pPr>
            <a:r>
              <a:t>The Seven Kandas (Books) of Valmiki Ramayana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188720"/>
            <a:ext cx="4114800" cy="36576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303520" cy="1051560"/>
          </a:xfrm>
          <a:prstGeom prst="rect">
            <a:avLst/>
          </a:prstGeom>
          <a:solidFill>
            <a:srgbClr val="3B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9933"/>
                </a:solidFill>
                <a:latin typeface="Georgia"/>
              </a:defRPr>
              <a:lnSpc>
                <a:spcPct val="130000"/>
              </a:lnSpc>
            </a:pPr>
            <a:r>
              <a:t>1. Bala Kanda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8E7"/>
                </a:solidFill>
                <a:latin typeface="Georgia"/>
              </a:defRPr>
              <a:lnSpc>
                <a:spcPct val="130000"/>
              </a:lnSpc>
            </a:pPr>
            <a:r>
              <a:t>Birth &amp; early life of Rama; Rama breaks Shiva's bow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5303520" cy="1051560"/>
          </a:xfrm>
          <a:prstGeom prst="rect">
            <a:avLst/>
          </a:prstGeom>
          <a:solidFill>
            <a:srgbClr val="3B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9933"/>
                </a:solidFill>
                <a:latin typeface="Georgia"/>
              </a:defRPr>
              <a:lnSpc>
                <a:spcPct val="130000"/>
              </a:lnSpc>
            </a:pPr>
            <a:r>
              <a:t>2. Ayodhya Kanda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8E7"/>
                </a:solidFill>
                <a:latin typeface="Georgia"/>
              </a:defRPr>
              <a:lnSpc>
                <a:spcPct val="130000"/>
              </a:lnSpc>
            </a:pPr>
            <a:r>
              <a:t>Rama's exile for 14 years; Bharata's devotion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5303520" cy="1051560"/>
          </a:xfrm>
          <a:prstGeom prst="rect">
            <a:avLst/>
          </a:prstGeom>
          <a:solidFill>
            <a:srgbClr val="3B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9933"/>
                </a:solidFill>
                <a:latin typeface="Georgia"/>
              </a:defRPr>
              <a:lnSpc>
                <a:spcPct val="130000"/>
              </a:lnSpc>
            </a:pPr>
            <a:r>
              <a:t>3. Aranya Kanda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8E7"/>
                </a:solidFill>
                <a:latin typeface="Georgia"/>
              </a:defRPr>
              <a:lnSpc>
                <a:spcPct val="130000"/>
              </a:lnSpc>
            </a:pPr>
            <a:r>
              <a:t>Forest adventures; Sita's abduction by Ravana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5303520" cy="1051560"/>
          </a:xfrm>
          <a:prstGeom prst="rect">
            <a:avLst/>
          </a:prstGeom>
          <a:solidFill>
            <a:srgbClr val="3B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9933"/>
                </a:solidFill>
                <a:latin typeface="Georgia"/>
              </a:defRPr>
              <a:lnSpc>
                <a:spcPct val="130000"/>
              </a:lnSpc>
            </a:pPr>
            <a:r>
              <a:t>4. Kishkindha Kanda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8E7"/>
                </a:solidFill>
                <a:latin typeface="Georgia"/>
              </a:defRPr>
              <a:lnSpc>
                <a:spcPct val="130000"/>
              </a:lnSpc>
            </a:pPr>
            <a:r>
              <a:t>Alliance with Sugriva &amp; Hanuman's emergence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554480"/>
            <a:ext cx="5303520" cy="1051560"/>
          </a:xfrm>
          <a:prstGeom prst="rect">
            <a:avLst/>
          </a:prstGeom>
          <a:solidFill>
            <a:srgbClr val="3B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9933"/>
                </a:solidFill>
                <a:latin typeface="Georgia"/>
              </a:defRPr>
              <a:lnSpc>
                <a:spcPct val="130000"/>
              </a:lnSpc>
            </a:pPr>
            <a:r>
              <a:t>5. Sundara Kanda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8E7"/>
                </a:solidFill>
                <a:latin typeface="Georgia"/>
              </a:defRPr>
              <a:lnSpc>
                <a:spcPct val="130000"/>
              </a:lnSpc>
            </a:pPr>
            <a:r>
              <a:t>Hanuman leaps to Lanka; finds Sita; burns Lanka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743200"/>
            <a:ext cx="5303520" cy="1051560"/>
          </a:xfrm>
          <a:prstGeom prst="rect">
            <a:avLst/>
          </a:prstGeom>
          <a:solidFill>
            <a:srgbClr val="3B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834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9933"/>
                </a:solidFill>
                <a:latin typeface="Georgia"/>
              </a:defRPr>
              <a:lnSpc>
                <a:spcPct val="130000"/>
              </a:lnSpc>
            </a:pPr>
            <a:r>
              <a:t>6. Yuddha Kanda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8E7"/>
                </a:solidFill>
                <a:latin typeface="Georgia"/>
              </a:defRPr>
              <a:lnSpc>
                <a:spcPct val="130000"/>
              </a:lnSpc>
            </a:pPr>
            <a:r>
              <a:t>Great war; Ravana's defeat; Rama reunites with Sita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931920"/>
            <a:ext cx="5303520" cy="1051560"/>
          </a:xfrm>
          <a:prstGeom prst="rect">
            <a:avLst/>
          </a:prstGeom>
          <a:solidFill>
            <a:srgbClr val="3B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9933"/>
                </a:solidFill>
                <a:latin typeface="Georgia"/>
              </a:defRPr>
              <a:lnSpc>
                <a:spcPct val="130000"/>
              </a:lnSpc>
            </a:pPr>
            <a:r>
              <a:t>7. Uttara Kanda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891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8E7"/>
                </a:solidFill>
                <a:latin typeface="Georgia"/>
              </a:defRPr>
              <a:lnSpc>
                <a:spcPct val="130000"/>
              </a:lnSpc>
            </a:pPr>
            <a:r>
              <a:t>Rama's rule (Rama Rajya); the ideal kingdom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DAA520"/>
                </a:solidFill>
                <a:latin typeface="Georgia"/>
              </a:defRPr>
              <a:lnSpc>
                <a:spcPct val="130000"/>
              </a:lnSpc>
            </a:pPr>
            <a:r>
              <a:t>"Sitaayaah Charitam Mahat" — Valmiki Ramayana is truly the noble story of Sita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FFE0B2"/>
                </a:solidFill>
                <a:latin typeface="Arial"/>
              </a:defRPr>
              <a:lnSpc>
                <a:spcPct val="130000"/>
              </a:lnSpc>
            </a:pPr>
            <a:r>
              <a:t>Images courtesy: ISKCON Desire Tree &amp; Hare Krishna Wallpapers  |  Jai Sri Ram!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